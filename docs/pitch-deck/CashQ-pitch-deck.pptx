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304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(5 dtk) Nama + satu kalimat: bantu cairkan saldo AdSense lebih cepat. Stempel: bisa hari ini, bukan tanggal 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(15 dtk) Uang sudah dihasilkan tapi terkunci sampai 21-26. Pilihan yang ada semuanya salah harga atau salah sasaran.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(15 dtk) Pasar terbukti di web2, tapi kamar tertutup dan tidak ada yang melayani SEA. Itu celah kita.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(20 dtk) Kunci: yang dicairkan lebih awal adalah saldo AdSense tgl 3 yang sudah diposting Google, bukan proyeksi. Fee flat terlihat di depan.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(15 dtk) Sebutkan namanya saja, jangan jelaskan tugasnya; detail mekanisme ada di slide cadangan teknis kalau ditanya juri.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(20 dtk) Ini satu-satunya hal yang benar-benar butuh blockchain: kebenaran bersama yang tidak dimiliki siapa pun.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(15 dtk) Regulasinya konkret: LPBBTI (POJK 10/2022) untuk pendanaan bersama, PJP (PBI 23/2021) + standar SNAP untuk autodebet, UU PDP 27/2022 dan UU TPPU 8/2010 untuk data dan KYC. Mitigasi awal: jalan bareng pemegang izin.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(10 dtk) GTM: jadi infrastruktur dulu. Lender berizin yang maju ke kreator, kami jadi infrastruktur verifikasi + anti double-funding.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di sini. Kembali ke deck setelah selesai.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(5 dtk) Tutup: bandingkan fee, sebut rapor kredit, ucapkan kalimat penutup, ajak ke booth untuk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Cadangan. Jawab: kapan, bukan kalau. Empat lapis: debit ulang, batas di bawah pajak, junior layer, registri macet.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Cadangan. Semua pemain hidup dan menguntungkan = demand terbukti. Yang belum ada: pool terbuka on-chain + SEA.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Cadangan teknis. Prinsip: bukti minimal untuk klaim uang ini akan cair; sisanya bukan urusan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12700">
            <a:solidFill>
              <a:srgbClr val="D9D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B4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CashQ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11512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F5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100" dirty="0">
                <a:solidFill>
                  <a:srgbClr val="5F5B4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ETHEREUM JAKARTA HACKATHON 2026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dirty="0">
                <a:solidFill>
                  <a:srgbClr val="17191E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CashQ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 rot="-360000">
            <a:off x="8732520" y="1691640"/>
            <a:ext cx="2880360" cy="1051560"/>
          </a:xfrm>
          <a:prstGeom prst="rect">
            <a:avLst/>
          </a:prstGeom>
          <a:solidFill>
            <a:srgbClr val="F4F2EB"/>
          </a:solidFill>
          <a:ln w="31750">
            <a:solidFill>
              <a:srgbClr val="1E5C4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kern="0" spc="200" dirty="0">
                <a:solidFill>
                  <a:srgbClr val="1E5C4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CAIR HARI INI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7191E"/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Kami bantu cairkan saldo AdSense lebih cepat.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5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fee 2,5-3% sekali  ·  tanpa bunga  ·  tanpa pinjaman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12700">
            <a:solidFill>
              <a:srgbClr val="D9D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B4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CashQ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11512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F5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1E5C44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REAL-WORLD UTILITY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7191E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Uangnya sudah jadi. Cairnya tanggal 21.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AdSense tercatat setiap hari, Google membayar tanggal 21-26 bulan berikutnya</a:t>
            </a:r>
            <a:endParaRPr lang="en-US" sz="16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Biaya produksi jalan setiap minggu</a:t>
            </a:r>
            <a:endParaRPr lang="en-US" sz="16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Bank menolak tanpa slip gaji, pinjol memungut 0,3% per hari, layanan kreator hanya untuk channel besar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3383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91E"/>
            </a:solidFill>
            <a:prstDash val="solid"/>
          </a:ln>
          <a:effectLst>
            <a:outerShdw blurRad="101600" dist="63500" dir="2700000" algn="bl" rotWithShape="0">
              <a:srgbClr val="17191E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43616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5F5B4F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SEPANJANG BULAN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7274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91E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pendapatan tercatat harian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77240" y="5184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32C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biaya jalan tiap minggu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07408" y="4160520"/>
            <a:ext cx="3383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91E"/>
            </a:solidFill>
            <a:prstDash val="solid"/>
          </a:ln>
          <a:effectLst>
            <a:outerShdw blurRad="101600" dist="63500" dir="2700000" algn="bl" rotWithShape="0">
              <a:srgbClr val="17191E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36008" y="43616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1E5C4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TGL 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36008" y="47274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91E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saldo AdSense diposting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36008" y="5184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5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siap dicairkan sampai tgl 20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66176" y="4160520"/>
            <a:ext cx="3383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91E"/>
            </a:solidFill>
            <a:prstDash val="solid"/>
          </a:ln>
          <a:effectLst>
            <a:outerShdw blurRad="101600" dist="63500" dir="2700000" algn="bl" rotWithShape="0">
              <a:srgbClr val="17191E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94776" y="43616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1E5C4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TGL 21-26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94776" y="47274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91E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payout cair ke rekening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494776" y="5184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5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35-50 hari setelah kerja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968496" y="4983480"/>
            <a:ext cx="402336" cy="0"/>
          </a:xfrm>
          <a:prstGeom prst="line">
            <a:avLst/>
          </a:prstGeom>
          <a:noFill/>
          <a:ln w="22225">
            <a:solidFill>
              <a:srgbClr val="17191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827264" y="4983480"/>
            <a:ext cx="402336" cy="0"/>
          </a:xfrm>
          <a:prstGeom prst="line">
            <a:avLst/>
          </a:prstGeom>
          <a:noFill/>
          <a:ln w="22225">
            <a:solidFill>
              <a:srgbClr val="17191E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12700">
            <a:solidFill>
              <a:srgbClr val="D9D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B4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CashQ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11512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F5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1E5C44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REAL-WORLD UTILITY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7191E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Permintaan sudah terbukti. Aksesnya belum ada.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5C4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$70 miliar+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794760" y="1828800"/>
            <a:ext cx="7818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dibayar YouTube Partner Program dalam 3 tahun terakhir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91672" cy="0"/>
          </a:xfrm>
          <a:prstGeom prst="line">
            <a:avLst/>
          </a:prstGeom>
          <a:noFill/>
          <a:ln w="12700">
            <a:solidFill>
              <a:srgbClr val="D9D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0779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5C4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#4 dunia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794760" y="2907792"/>
            <a:ext cx="7818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posisi Indonesia: 151 juta pengguna, sekitar 3.000 channel 1M+ subscriber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D9D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8678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5C4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$940 juta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794760" y="3986784"/>
            <a:ext cx="7818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sudah tersalur lewat Spotter; MilX meng-advance $17,6 juta ke 5.000+ kreator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0" y="5138928"/>
            <a:ext cx="12188952" cy="896112"/>
          </a:xfrm>
          <a:prstGeom prst="rect">
            <a:avLst/>
          </a:prstGeom>
          <a:solidFill>
            <a:srgbClr val="E6ECE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138928"/>
            <a:ext cx="110916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E5C44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Semua pemain modal tertutup dan tanpa Asia Tenggara. Celah CashQ: pool terbuka on-chain untuk kreator SEA.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48640" y="61081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Sumber: Google (YouTube), MilX, Spotter; rangkuman docs/42-cashq.md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12700">
            <a:solidFill>
              <a:srgbClr val="D9D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B4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CashQ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11512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F5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7191E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Cair lebih awal, tanpa pinjaman.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48716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91E"/>
            </a:solidFill>
            <a:prstDash val="solid"/>
          </a:ln>
          <a:effectLst>
            <a:outerShdw blurRad="101600" dist="63500" dir="2700000" algn="bl" rotWithShape="0">
              <a:srgbClr val="17191E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23042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5C4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278892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17191E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Verifikasi</a:t>
            </a:r>
            <a:r>
              <a:rPr lang="en-US" sz="1700" dirty="0">
                <a:solidFill>
                  <a:srgbClr val="17191E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 zkTLS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9808" y="3273552"/>
            <a:ext cx="20848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saldo AdSense tgl 3 diverifikasi kriptografis, bukti milik kreator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90672" y="3429000"/>
            <a:ext cx="274320" cy="0"/>
          </a:xfrm>
          <a:prstGeom prst="line">
            <a:avLst/>
          </a:prstGeom>
          <a:noFill/>
          <a:ln w="22225">
            <a:solidFill>
              <a:srgbClr val="17191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19856" y="2103120"/>
            <a:ext cx="248716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91E"/>
            </a:solidFill>
            <a:prstDash val="solid"/>
          </a:ln>
          <a:effectLst>
            <a:outerShdw blurRad="101600" dist="63500" dir="2700000" algn="bl" rotWithShape="0">
              <a:srgbClr val="17191E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21024" y="23042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5C4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21024" y="278892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191E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Bureau System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21024" y="3273552"/>
            <a:ext cx="20848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rule-based, maks 90% saldo setelah pajak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61888" y="3429000"/>
            <a:ext cx="274320" cy="0"/>
          </a:xfrm>
          <a:prstGeom prst="line">
            <a:avLst/>
          </a:prstGeom>
          <a:noFill/>
          <a:ln w="22225">
            <a:solidFill>
              <a:srgbClr val="17191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91072" y="2103120"/>
            <a:ext cx="248716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91E"/>
            </a:solidFill>
            <a:prstDash val="solid"/>
          </a:ln>
          <a:effectLst>
            <a:outerShdw blurRad="101600" dist="63500" dir="2700000" algn="bl" rotWithShape="0">
              <a:srgbClr val="17191E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23042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5C4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92240" y="278892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191E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Cair hari ini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92240" y="3273552"/>
            <a:ext cx="20848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fee 2,5-3% tampil di depan, tanpa bunga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33104" y="3429000"/>
            <a:ext cx="274320" cy="0"/>
          </a:xfrm>
          <a:prstGeom prst="line">
            <a:avLst/>
          </a:prstGeom>
          <a:noFill/>
          <a:ln w="22225">
            <a:solidFill>
              <a:srgbClr val="17191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62288" y="2103120"/>
            <a:ext cx="248716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91E"/>
            </a:solidFill>
            <a:prstDash val="solid"/>
          </a:ln>
          <a:effectLst>
            <a:outerShdw blurRad="101600" dist="63500" dir="2700000" algn="bl" rotWithShape="0">
              <a:srgbClr val="17191E">
                <a:alpha val="100000"/>
              </a:srgbClr>
            </a:outerShdw>
          </a:effectLst>
        </p:spPr>
        <p:txBody>
          <a:bodyPr/>
          <a:lstStyle/>
          <a:p>
            <a:endParaRPr lang="en-ID" dirty="0"/>
          </a:p>
        </p:txBody>
      </p:sp>
      <p:sp>
        <p:nvSpPr>
          <p:cNvPr id="22" name="Text 20"/>
          <p:cNvSpPr/>
          <p:nvPr/>
        </p:nvSpPr>
        <p:spPr>
          <a:xfrm>
            <a:off x="9363456" y="23042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5C4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63456" y="278892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191E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Lunas tgl 21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363456" y="3273552"/>
            <a:ext cx="20848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debit otomatis saat payout masuk, rapor tercatat on-chain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120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5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Bureau: mesin aturan if-then atas angka histori, bukan model AI. Satu channel, satu jawaban.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12700">
            <a:solidFill>
              <a:srgbClr val="D9D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B4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CashQ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11512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F5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7191E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Yang sudah dibangun.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91E"/>
            </a:solidFill>
            <a:prstDash val="solid"/>
          </a:ln>
          <a:effectLst>
            <a:outerShdw blurRad="101600" dist="63500" dir="2700000" algn="bl" rotWithShape="0">
              <a:srgbClr val="17191E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0116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1E5C4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DEMO &amp; UI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35915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7191E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React 19 · Vite · TypeScript · Tailwind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3310128"/>
            <a:ext cx="1109167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91E"/>
            </a:solidFill>
            <a:prstDash val="solid"/>
          </a:ln>
          <a:effectLst>
            <a:outerShdw blurRad="101600" dist="63500" dir="2700000" algn="bl" rotWithShape="0">
              <a:srgbClr val="17191E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49300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1E5C4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VERIFIKASI &amp; PENILAIAN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7191E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zkPass TransGate · bureau rule engine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48640" y="4791456"/>
            <a:ext cx="11091672" cy="1280160"/>
          </a:xfrm>
          <a:prstGeom prst="rect">
            <a:avLst/>
          </a:prstGeom>
          <a:solidFill>
            <a:srgbClr val="E6ECE6"/>
          </a:solidFill>
          <a:ln w="12700">
            <a:solidFill>
              <a:srgbClr val="1E5C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9743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1E5C4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ONCHAIN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53218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7191E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Solidity · Foundry/Anvil · ERC-4626 · ERC-4337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12700">
            <a:solidFill>
              <a:srgbClr val="D9D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B4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CashQ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11512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F5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1E5C44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ONCHAIN IMPLEMENTATION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7191E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Satu payout, satu kebenaran.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Masalah yang diselesaikan chain: satu payout didanai dua kali oleh aplikasi berbeda</a:t>
            </a:r>
            <a:endParaRPr lang="en-US" sz="160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Registri nullifier on-chain bisa dibaca lender mana pun sebelum mendanai</a:t>
            </a:r>
            <a:endParaRPr lang="en-US" sz="160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Tidak bisa dimiliki satu perusahaan: pesaing tidak mau menaruh data di database kompetitornya</a:t>
            </a:r>
            <a:endParaRPr lang="en-US" sz="160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Aturan pool dan rapor kredit jadi kode yang tidak bisa diubah diam-diam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20840" y="1965960"/>
            <a:ext cx="1554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91E"/>
            </a:solidFill>
            <a:prstDash val="solid"/>
          </a:ln>
          <a:effectLst>
            <a:outerShdw blurRad="101600" dist="63500" dir="2700000" algn="bl" rotWithShape="0">
              <a:srgbClr val="17191E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1965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7191E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Lender 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20840" y="3429000"/>
            <a:ext cx="1554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91E"/>
            </a:solidFill>
            <a:prstDash val="solid"/>
          </a:ln>
          <a:effectLst>
            <a:outerShdw blurRad="101600" dist="63500" dir="2700000" algn="bl" rotWithShape="0">
              <a:srgbClr val="17191E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20840" y="3429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7191E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Lender B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595360" y="2697480"/>
            <a:ext cx="1417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91E"/>
            </a:solidFill>
            <a:prstDash val="solid"/>
          </a:ln>
          <a:effectLst>
            <a:outerShdw blurRad="101600" dist="63500" dir="2700000" algn="bl" rotWithShape="0">
              <a:srgbClr val="17191E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95360" y="26974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5C44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Registri nullifier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311896" y="2331720"/>
            <a:ext cx="283464" cy="365760"/>
          </a:xfrm>
          <a:prstGeom prst="line">
            <a:avLst/>
          </a:prstGeom>
          <a:noFill/>
          <a:ln w="22225">
            <a:solidFill>
              <a:srgbClr val="17191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8311896" y="3429000"/>
            <a:ext cx="283464" cy="365760"/>
          </a:xfrm>
          <a:prstGeom prst="line">
            <a:avLst/>
          </a:prstGeom>
          <a:noFill/>
          <a:ln w="22225">
            <a:solidFill>
              <a:srgbClr val="17191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049256" y="3063240"/>
            <a:ext cx="283464" cy="0"/>
          </a:xfrm>
          <a:prstGeom prst="line">
            <a:avLst/>
          </a:prstGeom>
          <a:noFill/>
          <a:ln w="22225">
            <a:solidFill>
              <a:srgbClr val="17191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332720" y="2697480"/>
            <a:ext cx="130759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91E"/>
            </a:solidFill>
            <a:prstDash val="solid"/>
          </a:ln>
          <a:effectLst>
            <a:outerShdw blurRad="101600" dist="63500" dir="2700000" algn="bl" rotWithShape="0">
              <a:srgbClr val="17191E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332720" y="2697480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191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satu payout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 rot="-300000">
            <a:off x="9326880" y="3977640"/>
            <a:ext cx="2286000" cy="685800"/>
          </a:xfrm>
          <a:prstGeom prst="rect">
            <a:avLst/>
          </a:prstGeom>
          <a:solidFill>
            <a:srgbClr val="F4F2EB"/>
          </a:solidFill>
          <a:ln w="31750">
            <a:solidFill>
              <a:srgbClr val="A32C2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200" dirty="0">
                <a:solidFill>
                  <a:srgbClr val="A32C21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SUDAH DIAMBIL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E5C44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EWA biasa: satu bank, satu nasabah, cukup database. CashQ: banyak lender pesaing, satu kebenaran.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12700">
            <a:solidFill>
              <a:srgbClr val="D9D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B4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CashQ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11512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F5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1E5C44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FEASIBILITY &amp; SCALABILITY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7191E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Tiga syarat sebelum full jalan.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5C4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3969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7191E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OJK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48640" y="25968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POJK 10/POJK.05/2022 · LPBBTI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77640" y="1828800"/>
            <a:ext cx="7635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Pendanaan dari lender publik masuk LPBBTI: izin OJK, batas biaya harian, pelaporan berkala</a:t>
            </a:r>
            <a:endParaRPr lang="en-US" sz="14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Jalur cepat: jalan sebagai mitra pemegang izin sebelum punya izin sendiri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145536"/>
            <a:ext cx="11091672" cy="0"/>
          </a:xfrm>
          <a:prstGeom prst="line">
            <a:avLst/>
          </a:prstGeom>
          <a:noFill/>
          <a:ln w="12700">
            <a:solidFill>
              <a:srgbClr val="D9D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735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5C4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5844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7191E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BI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8640" y="4041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PBI 23/6/PBI/2021 · PJP, SNAP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77640" y="3273552"/>
            <a:ext cx="7635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Autodebet hanya lewat penyedia jasa pembayaran berizin BI, atas mandat yang disetujui kreator</a:t>
            </a:r>
            <a:endParaRPr lang="en-US" sz="14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Interoperabilitas pakai standar open API SNAP; calon mitra: Ayoconnect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590288"/>
            <a:ext cx="11091672" cy="0"/>
          </a:xfrm>
          <a:prstGeom prst="line">
            <a:avLst/>
          </a:prstGeom>
          <a:noFill/>
          <a:ln w="12700">
            <a:solidFill>
              <a:srgbClr val="D9D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7183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5C4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5029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7191E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PDP + AML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UU 27/2022 · UU 8/2010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77640" y="4718304"/>
            <a:ext cx="7635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PDP: data AdSense diproses dengan persetujuan eksplisit dan tujuan terbatas</a:t>
            </a:r>
            <a:endParaRPr lang="en-US" sz="14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AML: verifikasi identitas (KYC) sebelum dana pertama, laporan ke PPATK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12700">
            <a:solidFill>
              <a:srgbClr val="D9D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B4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CashQ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11512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F5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1E5C44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FEASIBILITY &amp; SCALABILITY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7191E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Jadi infrastruktur, </a:t>
            </a:r>
            <a:r>
              <a:rPr lang="en-US" sz="3200" dirty="0" err="1">
                <a:solidFill>
                  <a:srgbClr val="17191E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bukan</a:t>
            </a:r>
            <a:r>
              <a:rPr lang="en-US" sz="3200" dirty="0">
                <a:solidFill>
                  <a:srgbClr val="17191E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 platform.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91E"/>
            </a:solidFill>
            <a:prstDash val="solid"/>
          </a:ln>
          <a:effectLst>
            <a:outerShdw blurRad="101600" dist="63500" dir="2700000" algn="bl" rotWithShape="0">
              <a:srgbClr val="17191E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6060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7191E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Kreator YouTube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06624" y="3108960"/>
            <a:ext cx="493776" cy="0"/>
          </a:xfrm>
          <a:prstGeom prst="line">
            <a:avLst/>
          </a:prstGeom>
          <a:noFill/>
          <a:ln w="22225">
            <a:solidFill>
              <a:srgbClr val="17191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55264" y="1828800"/>
            <a:ext cx="4297680" cy="2560320"/>
          </a:xfrm>
          <a:prstGeom prst="rect">
            <a:avLst/>
          </a:prstGeom>
          <a:solidFill>
            <a:srgbClr val="1E5C44"/>
          </a:solidFill>
          <a:ln/>
          <a:effectLst>
            <a:outerShdw blurRad="101600" dist="63500" dir="2700000" algn="bl" rotWithShape="0">
              <a:srgbClr val="17191E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9584" y="2057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kern="0" spc="100" dirty="0">
                <a:solidFill>
                  <a:srgbClr val="F4F2E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INFRASTRUKTUR CASHQ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529584" y="260604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F4F2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verifikasi AdSense (zkTLS)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F4F2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nullifier anti didanai ganda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F4F2EB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skor bureau rule-based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7191E"/>
            </a:solidFill>
            <a:prstDash val="solid"/>
          </a:ln>
          <a:effectLst>
            <a:outerShdw blurRad="101600" dist="63500" dir="2700000" algn="bl" rotWithShape="0">
              <a:srgbClr val="17191E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182880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191E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Lender berizin 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07808" y="3108960"/>
            <a:ext cx="658368" cy="0"/>
          </a:xfrm>
          <a:prstGeom prst="line">
            <a:avLst/>
          </a:prstGeom>
          <a:noFill/>
          <a:ln w="22225">
            <a:solidFill>
              <a:srgbClr val="17191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321040" y="2715768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7191E"/>
            </a:solidFill>
            <a:prstDash val="solid"/>
          </a:ln>
          <a:effectLst>
            <a:outerShdw blurRad="101600" dist="63500" dir="2700000" algn="bl" rotWithShape="0">
              <a:srgbClr val="17191E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21040" y="271576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191E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Lender berizin B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07808" y="3108960"/>
            <a:ext cx="658368" cy="0"/>
          </a:xfrm>
          <a:prstGeom prst="line">
            <a:avLst/>
          </a:prstGeom>
          <a:noFill/>
          <a:ln w="22225">
            <a:solidFill>
              <a:srgbClr val="17191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321040" y="3602736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7191E"/>
            </a:solidFill>
            <a:prstDash val="solid"/>
          </a:ln>
          <a:effectLst>
            <a:outerShdw blurRad="101600" dist="63500" dir="2700000" algn="bl" rotWithShape="0">
              <a:srgbClr val="17191E">
                <a:alpha val="1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21040" y="360273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191E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Lender berizin C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07808" y="3108960"/>
            <a:ext cx="658368" cy="0"/>
          </a:xfrm>
          <a:prstGeom prst="line">
            <a:avLst/>
          </a:prstGeom>
          <a:noFill/>
          <a:ln w="22225">
            <a:solidFill>
              <a:srgbClr val="17191E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48640" y="47091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Platform berizin membawa modal dan izin, CashQ membawa infrastrukturnya</a:t>
            </a:r>
            <a:endParaRPr lang="en-US" sz="15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 teruji dengan modal pihak lain, tanpa menunggu LP mengisi vault</a:t>
            </a:r>
            <a:endParaRPr lang="en-US" sz="15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Pendapatan: fee API anti-stacking dan lisensi bureau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5C44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Seperti jaringan kartu: infrastrukturnya satu, penerbitnya banyak.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95928" y="2560320"/>
            <a:ext cx="4206240" cy="1737360"/>
          </a:xfrm>
          <a:prstGeom prst="rect">
            <a:avLst/>
          </a:prstGeom>
          <a:solidFill>
            <a:srgbClr val="F4F2EB"/>
          </a:solidFill>
          <a:ln w="31750">
            <a:solidFill>
              <a:srgbClr val="1E5C4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kern="0" spc="200" dirty="0">
                <a:solidFill>
                  <a:srgbClr val="1E5C4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demo</a:t>
            </a:r>
            <a:endParaRPr lang="en-US" sz="6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12700">
            <a:solidFill>
              <a:srgbClr val="D9D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B4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CashQ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11512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F5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7191E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Fee 2,5-3% sekali. Selesai.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5B4F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PINJOL ONLINE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2212848"/>
            <a:ext cx="6400800" cy="566928"/>
          </a:xfrm>
          <a:prstGeom prst="rect">
            <a:avLst/>
          </a:prstGeom>
          <a:solidFill>
            <a:srgbClr val="A32C21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0" y="2148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32C21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0,3% per hari  =  sekitar 9% per bulan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5C4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CASHQ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3310128"/>
            <a:ext cx="2103120" cy="566928"/>
          </a:xfrm>
          <a:prstGeom prst="rect">
            <a:avLst/>
          </a:prstGeom>
          <a:solidFill>
            <a:srgbClr val="1E5C4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32461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5C44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2,5-3% sekali, lunas otomatis saat payout tiba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Rapor kredit on-chain milik kreator, bisa dibawa ke lender mana pun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5120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7191E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Saldo AdSense-mu bisa cair lebih cepat.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12700">
            <a:solidFill>
              <a:srgbClr val="D9D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B4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CashQ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11512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F5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1E5C44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CADANGAN · RISIKO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7191E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Kalau kreator tidak bayar.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852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Autodebet berulang sampai dana masuk: rekening bank, bukan e-wallet yang bisa ditinggalkan</a:t>
            </a:r>
            <a:endParaRPr lang="en-US" sz="155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Kreator bisa menunda, sulit mengabaikan: payout berikutnya masuk ke rekening yang sama</a:t>
            </a:r>
            <a:endParaRPr lang="en-US" sz="155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Kerugian yang tetap lolos diserap lapis junior pool, lapis senior terakhir kena</a:t>
            </a:r>
            <a:endParaRPr lang="en-US" sz="155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Macet tercatat permanen di registri on-chain, terbaca semua lender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949440" y="1828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1E5C4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BATAS CAIR, ILUSTRASI PAJAK 20%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0" y="2240280"/>
            <a:ext cx="932688" cy="640080"/>
          </a:xfrm>
          <a:prstGeom prst="rect">
            <a:avLst/>
          </a:prstGeom>
          <a:solidFill>
            <a:srgbClr val="5F5B4F"/>
          </a:solidFill>
          <a:ln/>
        </p:spPr>
      </p:sp>
      <p:sp>
        <p:nvSpPr>
          <p:cNvPr id="10" name="Shape 8"/>
          <p:cNvSpPr/>
          <p:nvPr/>
        </p:nvSpPr>
        <p:spPr>
          <a:xfrm>
            <a:off x="7882128" y="2240280"/>
            <a:ext cx="466344" cy="640080"/>
          </a:xfrm>
          <a:prstGeom prst="rect">
            <a:avLst/>
          </a:prstGeom>
          <a:solidFill>
            <a:srgbClr val="D9D4C7"/>
          </a:solidFill>
          <a:ln/>
        </p:spPr>
      </p:sp>
      <p:sp>
        <p:nvSpPr>
          <p:cNvPr id="11" name="Shape 9"/>
          <p:cNvSpPr/>
          <p:nvPr/>
        </p:nvSpPr>
        <p:spPr>
          <a:xfrm>
            <a:off x="8348472" y="2240280"/>
            <a:ext cx="3264408" cy="640080"/>
          </a:xfrm>
          <a:prstGeom prst="rect">
            <a:avLst/>
          </a:prstGeom>
          <a:solidFill>
            <a:srgbClr val="1E5C44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2971800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pajak AS 20%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48472" y="2971800"/>
            <a:ext cx="16322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bantalan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74429" y="2971800"/>
            <a:ext cx="22384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5C44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advance maks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0" y="37947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90% dari saldo setelah pajak: historis baik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70%: kreator baru, rapor kosong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0" y="50292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Batas kontrak: advance &lt;= saldo AdSense minus estimasi pajak. Satu payout pasti menutup satu advance.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12700">
            <a:solidFill>
              <a:srgbClr val="D9D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B4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CashQ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11512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F5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1E5C44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CADANGAN · LANSKAP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7191E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Yang sudah ada di pasar.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340156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5C44"/>
                          </a:solidFill>
                          <a:latin typeface="IBM Plex Mono SemiBold" pitchFamily="34" charset="0"/>
                          <a:ea typeface="IBM Plex Mono SemiBold" pitchFamily="34" charset="-122"/>
                          <a:cs typeface="IBM Plex Mono SemiBold" pitchFamily="34" charset="-120"/>
                        </a:rPr>
                        <a:t>Layanan</a:t>
                      </a:r>
                      <a:endParaRPr lang="en-US" sz="1250" dirty="0">
                        <a:latin typeface="IBM Plex Mono SemiBold" charset="0"/>
                        <a:ea typeface="IBM Plex Mono SemiBold" charset="0"/>
                        <a:cs typeface="IBM Plex Mono SemiBold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5C44"/>
                          </a:solidFill>
                          <a:latin typeface="IBM Plex Mono SemiBold" pitchFamily="34" charset="0"/>
                          <a:ea typeface="IBM Plex Mono SemiBold" pitchFamily="34" charset="-122"/>
                          <a:cs typeface="IBM Plex Mono SemiBold" pitchFamily="34" charset="-120"/>
                        </a:rPr>
                        <a:t>Cakupan</a:t>
                      </a:r>
                      <a:endParaRPr lang="en-US" sz="1250" dirty="0">
                        <a:latin typeface="IBM Plex Mono SemiBold" charset="0"/>
                        <a:ea typeface="IBM Plex Mono SemiBold" charset="0"/>
                        <a:cs typeface="IBM Plex Mono SemiBold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5C44"/>
                          </a:solidFill>
                          <a:latin typeface="IBM Plex Mono SemiBold" pitchFamily="34" charset="0"/>
                          <a:ea typeface="IBM Plex Mono SemiBold" pitchFamily="34" charset="-122"/>
                          <a:cs typeface="IBM Plex Mono SemiBold" pitchFamily="34" charset="-120"/>
                        </a:rPr>
                        <a:t>Skala</a:t>
                      </a:r>
                      <a:endParaRPr lang="en-US" sz="1250" dirty="0">
                        <a:latin typeface="IBM Plex Mono SemiBold" charset="0"/>
                        <a:ea typeface="IBM Plex Mono SemiBold" charset="0"/>
                        <a:cs typeface="IBM Plex Mono SemiBold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5C44"/>
                          </a:solidFill>
                          <a:latin typeface="IBM Plex Mono SemiBold" pitchFamily="34" charset="0"/>
                          <a:ea typeface="IBM Plex Mono SemiBold" pitchFamily="34" charset="-122"/>
                          <a:cs typeface="IBM Plex Mono SemiBold" pitchFamily="34" charset="-120"/>
                        </a:rPr>
                        <a:t>Model</a:t>
                      </a:r>
                      <a:endParaRPr lang="en-US" sz="1250" dirty="0">
                        <a:latin typeface="IBM Plex Mono SemiBold" charset="0"/>
                        <a:ea typeface="IBM Plex Mono SemiBold" charset="0"/>
                        <a:cs typeface="IBM Plex Mono SemiBold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5C44"/>
                          </a:solidFill>
                          <a:latin typeface="IBM Plex Mono SemiBold" pitchFamily="34" charset="0"/>
                          <a:ea typeface="IBM Plex Mono SemiBold" pitchFamily="34" charset="-122"/>
                          <a:cs typeface="IBM Plex Mono SemiBold" pitchFamily="34" charset="-120"/>
                        </a:rPr>
                        <a:t>On-chain</a:t>
                      </a:r>
                      <a:endParaRPr lang="en-US" sz="1250" dirty="0">
                        <a:latin typeface="IBM Plex Mono SemiBold" charset="0"/>
                        <a:ea typeface="IBM Plex Mono SemiBold" charset="0"/>
                        <a:cs typeface="IBM Plex Mono SemiBold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191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MilX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191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44 negara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191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$17,6 juta di-advance, 5.000+ kreator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191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advance dua tingkat, repay otomatis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191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tidak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191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CreatorAdvance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191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US, Kanada, UK, Australia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191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advance 50-80% penghasilan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191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OAuth resmi, fee flat 4-10%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191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tidak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191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Fundmates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191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kreator menengah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191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$50 juta+ ke 250+ channel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191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dana investor tertutup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191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tidak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191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Spotter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191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kreator besar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191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$940 juta ke 735+ channel, Series D $200 juta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191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dana investor tertutup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191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tidak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191E"/>
                          </a:solidFill>
                          <a:latin typeface="Plus Jakarta Sans SemiBold" pitchFamily="34" charset="0"/>
                          <a:ea typeface="Plus Jakarta Sans SemiBold" pitchFamily="34" charset="-122"/>
                          <a:cs typeface="Plus Jakarta Sans SemiBold" pitchFamily="34" charset="-120"/>
                        </a:rPr>
                        <a:t>CashQ</a:t>
                      </a:r>
                      <a:endParaRPr lang="en-US" sz="1300" dirty="0">
                        <a:latin typeface="Plus Jakarta Sans SemiBold" charset="0"/>
                        <a:ea typeface="Plus Jakarta Sans SemiBold" charset="0"/>
                        <a:cs typeface="Plus Jakarta Sans SemiBold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191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Asia Tenggara dulu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191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prototype hackathon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191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pool terbuka + registri nullifier</a:t>
                      </a:r>
                      <a:endParaRPr lang="en-US" sz="13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5C44"/>
                          </a:solidFill>
                          <a:latin typeface="IBM Plex Mono SemiBold" pitchFamily="34" charset="0"/>
                          <a:ea typeface="IBM Plex Mono SemiBold" pitchFamily="34" charset="-122"/>
                          <a:cs typeface="IBM Plex Mono SemiBold" pitchFamily="34" charset="-120"/>
                        </a:rPr>
                        <a:t>ya</a:t>
                      </a:r>
                      <a:endParaRPr lang="en-US" sz="1300" dirty="0">
                        <a:latin typeface="IBM Plex Mono SemiBold" charset="0"/>
                        <a:ea typeface="IBM Plex Mono SemiBold" charset="0"/>
                        <a:cs typeface="IBM Plex Mono SemiBold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989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Sumber: situs resmi tiap layanan; rangkuman docs/42-cashq.md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12700">
            <a:solidFill>
              <a:srgbClr val="D9D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B4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CashQ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11512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F5B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1E5C44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CADANGAN · TEKNIS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7191E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Detail yang biasanya ditanya.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1E5C4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VERIFIKASI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zkPass TransGate via ekstensi Chrome: kreator login sendiri, sesi browser disegel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Cakupan satu halaman: saldo AdSense tgl 3 saja; histori payout tidak masuk bukti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Nullifier dari payment_id: payout sama tidak bisa diklaim dua kali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55080" y="1828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1E5C4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PENILAIAN &amp; POOL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219456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 sinyal bureau: decay niche, arah tren, volatilitas, konsistensi upload, anomali traffic, rasio invalid traffic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Vault produksi 3 lapis: senior, junior, cadangan; demo satu lapis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719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Rail debit produksi: open finance berizin BI; demo: debit dari wallet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1326</Words>
  <Application>Microsoft Office PowerPoint</Application>
  <PresentationFormat>Widescreen</PresentationFormat>
  <Paragraphs>207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IBM Plex Mono</vt:lpstr>
      <vt:lpstr>IBM Plex Mono Medium</vt:lpstr>
      <vt:lpstr>IBM Plex Mono SemiBold</vt:lpstr>
      <vt:lpstr>Plus Jakarta Sans</vt:lpstr>
      <vt:lpstr>Plus Jakarta Sans ExtraBold</vt:lpstr>
      <vt:lpstr>Plus Jakarta Sans Medium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CashQ Pitch Deck</dc:title>
  <dc:subject>PptxGenJS Presentation</dc:subject>
  <dc:creator>CashQ</dc:creator>
  <cp:lastModifiedBy>andro 83</cp:lastModifiedBy>
  <cp:revision>5</cp:revision>
  <dcterms:created xsi:type="dcterms:W3CDTF">2026-10-10T06:56:09Z</dcterms:created>
  <dcterms:modified xsi:type="dcterms:W3CDTF">2026-10-10T07:04:09Z</dcterms:modified>
</cp:coreProperties>
</file>